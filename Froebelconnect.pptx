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62" r:id="rId6"/>
    <p:sldId id="261" r:id="rId7"/>
    <p:sldId id="264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59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D000"/>
    <a:srgbClr val="004941"/>
    <a:srgbClr val="34AA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A9D0D7-5A91-E708-2BF5-0C79BD515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F6F4D71-3C5D-8B8B-F6BD-60CCFC4B4C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0384F4A-E360-F58D-19CD-0E97F8294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3CD2-1767-4CCA-BE3F-A24448546F14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F31A69-3A2E-8D09-77A3-FC292315D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3DE2B6-40F2-0D5D-80BC-2ABF2625F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6E899-57E8-4431-882C-8C5BF34B4AD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2627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EE1297-D470-B8CF-4817-16636F5A7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C9E6A4-65BA-8842-43C0-CAADD5A37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D3D8D7-A402-31E8-0DF2-E85280B8A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3CD2-1767-4CCA-BE3F-A24448546F14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B1560E-2C7C-93CC-9990-D5F62B12C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BF9D30-16FC-CAA7-5727-B58B4051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6E899-57E8-4431-882C-8C5BF34B4AD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7025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E476C8-082C-6910-7326-7619441F2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8E68E8D-DBDD-99DA-979C-3D9C9D11B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4C929F-C479-5844-7EB4-B1F8DE5E0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3CD2-1767-4CCA-BE3F-A24448546F14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371D63-9804-ABB4-983F-620AE94E4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5C2414-60CE-920D-A454-A0C72B0D9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6E899-57E8-4431-882C-8C5BF34B4AD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6829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B45B9C-8CEB-B203-9AB8-1D5595C18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105E94-D607-6B79-36C9-9C94CE46A5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D3302D8-FFA8-FFEA-A5A3-55BF8BA0CC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3FE07DA-BF07-D605-4CC0-B5F4C6973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3CD2-1767-4CCA-BE3F-A24448546F14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F20707C-1F8E-B6F6-BD12-450CF77B1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5CCF88F-0443-9DE0-DBCA-12DE33900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6E899-57E8-4431-882C-8C5BF34B4AD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4721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F6EC9D-2157-DF5D-9433-6252B206A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FB140A2-8A7E-9ACB-5205-665BCBCF0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DBC0C10-DC5F-7225-6C92-A7731312C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1A3C8BD-7D11-837B-5412-0192AEF37B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2BA884D-A0F8-2D02-AFE3-2EB5FEAB4A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BEFD697-36C1-B008-DB71-A38E0B308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3CD2-1767-4CCA-BE3F-A24448546F14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1E046F4-F589-D82E-3EEF-01BA0046E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B201024-F933-01FD-60BE-65C44CC5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6E899-57E8-4431-882C-8C5BF34B4AD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6674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ED570D-0DB3-2EB1-C5DF-7C65858F3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0914E33-D6A6-3DE2-CCD5-25AE146D4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3CD2-1767-4CCA-BE3F-A24448546F14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F95F29D-78DF-14B2-E9F3-F1FA7BCA7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D6DAAB5-6DE1-787F-1637-FE54B018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6E899-57E8-4431-882C-8C5BF34B4AD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0676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A8257E4-5D83-A3AB-F286-3832C23A0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3CD2-1767-4CCA-BE3F-A24448546F14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52331DD-BEE1-ED2A-FF4C-8ACE677F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9AB782A-41B8-8FCE-C840-9E79247F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6E899-57E8-4431-882C-8C5BF34B4AD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348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F783DA-C57C-76B6-C10E-91BD57CF8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517923-4B86-6153-293D-04EA7F79B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5988670-2464-6090-4733-3E23102E1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5F2459D-4ACE-05C9-FC77-A27C26DFC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3CD2-1767-4CCA-BE3F-A24448546F14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B3AAFB3-84AC-9FE1-D543-31732ECC8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76D394D-0D2B-8672-5110-74DF89C79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6E899-57E8-4431-882C-8C5BF34B4AD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5952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D4581D-49DF-E3B6-D6DE-71EB30DE6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663DB71-E103-E3AD-3909-FE1754BB84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CA34334-C8BB-94B6-68A4-5B2125D6E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60BF2BB-317E-2FA6-550C-FDFAC9B2B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3CD2-1767-4CCA-BE3F-A24448546F14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12B4A07-3B3B-3830-1003-54EF5FB03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9677E10-BD20-23E1-5A8C-D5117374E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6E899-57E8-4431-882C-8C5BF34B4AD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3545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C82C4E-2D71-4C75-BF09-A11783B21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60816FA-76F7-6A02-AB67-5A195EDDD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E99516-8EFF-EB4D-1594-8A7DB9E11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3CD2-1767-4CCA-BE3F-A24448546F14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46FC0C-A7F2-8326-69E1-03FE03CE5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8136A8-223C-083C-4269-3189020E4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6E899-57E8-4431-882C-8C5BF34B4AD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9821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B06BAAC-4144-BDD5-1997-DB2C782330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CD4710F-5837-4ED8-AD68-0921B176B3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7C7C87-5861-6CE8-B35A-2EB3C3B17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3CD2-1767-4CCA-BE3F-A24448546F14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EB9959-FC27-6888-4110-1B79D8DBC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AC615C-0A20-0F63-C563-6B24DA196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6E899-57E8-4431-882C-8C5BF34B4AD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9639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E5D2920-BD08-D52A-40D9-9D17B5270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23AA0A-E231-E452-7370-2320EE071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9A14BC-F396-2A7A-F129-DA72EA8042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123CD2-1767-4CCA-BE3F-A24448546F14}" type="datetimeFigureOut">
              <a:rPr lang="de-DE" smtClean="0"/>
              <a:t>12.02.2026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0145F7-BD59-0F63-12FC-7E91F4A718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597867-FC4C-6615-645E-B459B8B2A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46E899-57E8-4431-882C-8C5BF34B4AD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4114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64D484F9-3C26-B924-B83E-EAA83A50C6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  <a:p>
            <a:r>
              <a:rPr lang="de-DE" dirty="0">
                <a:solidFill>
                  <a:srgbClr val="004941"/>
                </a:solidFill>
              </a:rPr>
              <a:t>Konzeptpapier für eine App.</a:t>
            </a:r>
          </a:p>
        </p:txBody>
      </p:sp>
      <p:pic>
        <p:nvPicPr>
          <p:cNvPr id="5" name="Grafik 4" descr="Ein Bild, das Schrift, Grafiken, Logo, Grafikdesign enthält.&#10;&#10;KI-generierte Inhalte können fehlerhaft sein.">
            <a:extLst>
              <a:ext uri="{FF2B5EF4-FFF2-40B4-BE49-F238E27FC236}">
                <a16:creationId xmlns:a16="http://schemas.microsoft.com/office/drawing/2014/main" id="{FB7272B1-7DC2-2C39-0988-CFA3033EA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209" y="2106888"/>
            <a:ext cx="3745449" cy="1655762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BB29BA04-4B75-C911-AE00-D75CCC86DD04}"/>
              </a:ext>
            </a:extLst>
          </p:cNvPr>
          <p:cNvSpPr txBox="1"/>
          <p:nvPr/>
        </p:nvSpPr>
        <p:spPr>
          <a:xfrm>
            <a:off x="6470904" y="2870761"/>
            <a:ext cx="22642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rgbClr val="004941"/>
                </a:solidFill>
              </a:rPr>
              <a:t>.connect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2BAE222-0FB2-4817-A56E-9831E7C72AEC}"/>
              </a:ext>
            </a:extLst>
          </p:cNvPr>
          <p:cNvSpPr txBox="1"/>
          <p:nvPr/>
        </p:nvSpPr>
        <p:spPr>
          <a:xfrm>
            <a:off x="4206675" y="3331432"/>
            <a:ext cx="44161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rgbClr val="004941"/>
                </a:solidFill>
              </a:rPr>
              <a:t>einfach. sicher. für alle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E28B4DB-3354-4523-08FB-992B3D99B0BD}"/>
              </a:ext>
            </a:extLst>
          </p:cNvPr>
          <p:cNvSpPr/>
          <p:nvPr/>
        </p:nvSpPr>
        <p:spPr>
          <a:xfrm rot="20098798">
            <a:off x="9146701" y="4255334"/>
            <a:ext cx="2934429" cy="2724912"/>
          </a:xfrm>
          <a:prstGeom prst="rect">
            <a:avLst/>
          </a:prstGeom>
          <a:solidFill>
            <a:srgbClr val="34AA32"/>
          </a:solidFill>
          <a:ln>
            <a:solidFill>
              <a:srgbClr val="34AA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winkliges Dreieck 9">
            <a:extLst>
              <a:ext uri="{FF2B5EF4-FFF2-40B4-BE49-F238E27FC236}">
                <a16:creationId xmlns:a16="http://schemas.microsoft.com/office/drawing/2014/main" id="{C192A2B8-F638-1F28-1AD7-57CD424E1C06}"/>
              </a:ext>
            </a:extLst>
          </p:cNvPr>
          <p:cNvSpPr/>
          <p:nvPr/>
        </p:nvSpPr>
        <p:spPr>
          <a:xfrm rot="1099627">
            <a:off x="10238657" y="1302732"/>
            <a:ext cx="2264229" cy="2158682"/>
          </a:xfrm>
          <a:prstGeom prst="rtTriangle">
            <a:avLst/>
          </a:prstGeom>
          <a:solidFill>
            <a:srgbClr val="AAD000"/>
          </a:solidFill>
          <a:ln>
            <a:solidFill>
              <a:srgbClr val="AAD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B2494BD1-C9AC-6DCD-98FD-AA531DE07555}"/>
              </a:ext>
            </a:extLst>
          </p:cNvPr>
          <p:cNvSpPr/>
          <p:nvPr/>
        </p:nvSpPr>
        <p:spPr>
          <a:xfrm>
            <a:off x="11018520" y="455992"/>
            <a:ext cx="1501157" cy="1432055"/>
          </a:xfrm>
          <a:prstGeom prst="ellipse">
            <a:avLst/>
          </a:prstGeom>
          <a:solidFill>
            <a:srgbClr val="004941"/>
          </a:solidFill>
          <a:ln>
            <a:solidFill>
              <a:srgbClr val="0049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1499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D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84D69D-0972-2E7E-21E7-A2B7930B3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F802545-EC1D-D27D-2DF8-E46C8C54BD46}"/>
              </a:ext>
            </a:extLst>
          </p:cNvPr>
          <p:cNvSpPr/>
          <p:nvPr/>
        </p:nvSpPr>
        <p:spPr>
          <a:xfrm rot="20098798">
            <a:off x="9126256" y="2798945"/>
            <a:ext cx="2934429" cy="2724912"/>
          </a:xfrm>
          <a:prstGeom prst="rect">
            <a:avLst/>
          </a:prstGeom>
          <a:solidFill>
            <a:srgbClr val="34AA32"/>
          </a:solidFill>
          <a:ln>
            <a:solidFill>
              <a:srgbClr val="34AA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5D0B3FC-DC75-F440-D078-150CDBE752BA}"/>
              </a:ext>
            </a:extLst>
          </p:cNvPr>
          <p:cNvSpPr/>
          <p:nvPr/>
        </p:nvSpPr>
        <p:spPr>
          <a:xfrm>
            <a:off x="-64008" y="5413248"/>
            <a:ext cx="12344400" cy="1444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 descr="Ein Bild, das Schrift, Grafiken, Logo, Grafikdesign enthält.&#10;&#10;KI-generierte Inhalte können fehlerhaft sein.">
            <a:extLst>
              <a:ext uri="{FF2B5EF4-FFF2-40B4-BE49-F238E27FC236}">
                <a16:creationId xmlns:a16="http://schemas.microsoft.com/office/drawing/2014/main" id="{74391EEF-DBAC-361E-EC8D-F90421242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4" y="5419810"/>
            <a:ext cx="3366810" cy="1488376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7B0018DE-6D8E-7D6A-29CB-BF8CDBEACCB9}"/>
              </a:ext>
            </a:extLst>
          </p:cNvPr>
          <p:cNvSpPr txBox="1"/>
          <p:nvPr/>
        </p:nvSpPr>
        <p:spPr>
          <a:xfrm>
            <a:off x="10128802" y="6066727"/>
            <a:ext cx="2035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rgbClr val="004941"/>
                </a:solidFill>
              </a:rPr>
              <a:t>.connect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3BEC6D4-109B-3D22-EE37-CA5E5A038905}"/>
              </a:ext>
            </a:extLst>
          </p:cNvPr>
          <p:cNvSpPr txBox="1"/>
          <p:nvPr/>
        </p:nvSpPr>
        <p:spPr>
          <a:xfrm>
            <a:off x="594360" y="457200"/>
            <a:ext cx="5303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004941"/>
                </a:solidFill>
              </a:rPr>
              <a:t>STATUS QUO</a:t>
            </a:r>
          </a:p>
          <a:p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48E359-50F9-6745-5215-1A38E8360763}"/>
              </a:ext>
            </a:extLst>
          </p:cNvPr>
          <p:cNvSpPr txBox="1">
            <a:spLocks/>
          </p:cNvSpPr>
          <p:nvPr/>
        </p:nvSpPr>
        <p:spPr>
          <a:xfrm>
            <a:off x="594360" y="1039030"/>
            <a:ext cx="8677656" cy="38960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  <a:p>
            <a:pPr marL="0" indent="0">
              <a:buNone/>
            </a:pPr>
            <a:r>
              <a:rPr lang="de-DE" dirty="0">
                <a:solidFill>
                  <a:srgbClr val="004941"/>
                </a:solidFill>
              </a:rPr>
              <a:t>Um den Kita-Alltag zu Managen wird eine externe Anwendung (</a:t>
            </a:r>
            <a:r>
              <a:rPr lang="de-DE" dirty="0" err="1">
                <a:solidFill>
                  <a:srgbClr val="004941"/>
                </a:solidFill>
              </a:rPr>
              <a:t>KiTaPlus</a:t>
            </a:r>
            <a:r>
              <a:rPr lang="de-DE" dirty="0">
                <a:solidFill>
                  <a:srgbClr val="004941"/>
                </a:solidFill>
              </a:rPr>
              <a:t>) genutzt.</a:t>
            </a:r>
          </a:p>
          <a:p>
            <a:pPr marL="0" indent="0">
              <a:buNone/>
            </a:pPr>
            <a:r>
              <a:rPr lang="de-DE" dirty="0">
                <a:solidFill>
                  <a:srgbClr val="004941"/>
                </a:solidFill>
              </a:rPr>
              <a:t>Kritik an der App:</a:t>
            </a:r>
          </a:p>
          <a:p>
            <a:pPr>
              <a:buFontTx/>
              <a:buChar char="-"/>
            </a:pPr>
            <a:r>
              <a:rPr lang="de-DE" dirty="0">
                <a:solidFill>
                  <a:srgbClr val="004941"/>
                </a:solidFill>
              </a:rPr>
              <a:t>Nicht intuitiv, schwer verständlich, nicht barrierefrei</a:t>
            </a:r>
          </a:p>
          <a:p>
            <a:pPr>
              <a:buFontTx/>
              <a:buChar char="-"/>
            </a:pPr>
            <a:r>
              <a:rPr lang="de-DE" dirty="0">
                <a:solidFill>
                  <a:srgbClr val="004941"/>
                </a:solidFill>
              </a:rPr>
              <a:t>Bedienung ebenfalls zeitaufwändig und schwerfällig</a:t>
            </a:r>
          </a:p>
          <a:p>
            <a:pPr>
              <a:buFontTx/>
              <a:buChar char="-"/>
            </a:pPr>
            <a:r>
              <a:rPr lang="de-DE" dirty="0">
                <a:solidFill>
                  <a:srgbClr val="004941"/>
                </a:solidFill>
              </a:rPr>
              <a:t>Wenig Erleichterung im Kita-Alltag (sowohl für </a:t>
            </a:r>
            <a:r>
              <a:rPr lang="de-DE" dirty="0" err="1">
                <a:solidFill>
                  <a:srgbClr val="004941"/>
                </a:solidFill>
              </a:rPr>
              <a:t>Erzieher:innen</a:t>
            </a:r>
            <a:r>
              <a:rPr lang="de-DE" dirty="0">
                <a:solidFill>
                  <a:srgbClr val="004941"/>
                </a:solidFill>
              </a:rPr>
              <a:t>, als auch für die Eltern)</a:t>
            </a:r>
          </a:p>
          <a:p>
            <a:pPr marL="0" indent="0">
              <a:buNone/>
            </a:pPr>
            <a:r>
              <a:rPr lang="de-DE" dirty="0">
                <a:solidFill>
                  <a:srgbClr val="004941"/>
                </a:solidFill>
              </a:rPr>
              <a:t>- Laufende Kosten an externen Anbieter</a:t>
            </a:r>
          </a:p>
          <a:p>
            <a:pPr>
              <a:buFontTx/>
              <a:buChar char="-"/>
            </a:pPr>
            <a:endParaRPr lang="de-DE" dirty="0">
              <a:solidFill>
                <a:srgbClr val="00494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B94E314-0534-B109-120C-F51F882755A8}"/>
              </a:ext>
            </a:extLst>
          </p:cNvPr>
          <p:cNvSpPr txBox="1"/>
          <p:nvPr/>
        </p:nvSpPr>
        <p:spPr>
          <a:xfrm rot="20108728">
            <a:off x="8955354" y="2982593"/>
            <a:ext cx="30999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*</a:t>
            </a:r>
            <a:r>
              <a:rPr lang="de-DE" dirty="0" err="1">
                <a:solidFill>
                  <a:schemeClr val="bg1"/>
                </a:solidFill>
              </a:rPr>
              <a:t>durchschnittl</a:t>
            </a:r>
            <a:r>
              <a:rPr lang="de-DE" dirty="0">
                <a:solidFill>
                  <a:schemeClr val="bg1"/>
                </a:solidFill>
              </a:rPr>
              <a:t>. 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40 € pro Monat, pro Einrichtung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480 € pro Jahr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240 Fröbel-Einrichtungen = 115.200 €</a:t>
            </a:r>
          </a:p>
        </p:txBody>
      </p:sp>
    </p:spTree>
    <p:extLst>
      <p:ext uri="{BB962C8B-B14F-4D97-AF65-F5344CB8AC3E}">
        <p14:creationId xmlns:p14="http://schemas.microsoft.com/office/powerpoint/2010/main" val="3715455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A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ntertitel 2">
            <a:extLst>
              <a:ext uri="{FF2B5EF4-FFF2-40B4-BE49-F238E27FC236}">
                <a16:creationId xmlns:a16="http://schemas.microsoft.com/office/drawing/2014/main" id="{53448B8C-B4E8-ED5C-AA9F-4EAADE457424}"/>
              </a:ext>
            </a:extLst>
          </p:cNvPr>
          <p:cNvSpPr txBox="1">
            <a:spLocks/>
          </p:cNvSpPr>
          <p:nvPr/>
        </p:nvSpPr>
        <p:spPr>
          <a:xfrm>
            <a:off x="594360" y="828824"/>
            <a:ext cx="10292508" cy="4609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  <a:p>
            <a:pPr marL="0" indent="0">
              <a:buNone/>
            </a:pPr>
            <a:r>
              <a:rPr lang="de-DE" dirty="0">
                <a:solidFill>
                  <a:srgbClr val="004941"/>
                </a:solidFill>
              </a:rPr>
              <a:t>Eigene Anwendung:</a:t>
            </a:r>
          </a:p>
          <a:p>
            <a:pPr marL="0" indent="0">
              <a:buNone/>
            </a:pPr>
            <a:r>
              <a:rPr lang="de-DE" dirty="0">
                <a:solidFill>
                  <a:srgbClr val="004941"/>
                </a:solidFill>
              </a:rPr>
              <a:t>	</a:t>
            </a:r>
            <a:r>
              <a:rPr lang="de-DE" b="1" dirty="0" err="1">
                <a:solidFill>
                  <a:schemeClr val="bg1"/>
                </a:solidFill>
              </a:rPr>
              <a:t>FROEBEL.connect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dirty="0">
                <a:solidFill>
                  <a:srgbClr val="004941"/>
                </a:solidFill>
              </a:rPr>
              <a:t>(AT)</a:t>
            </a:r>
          </a:p>
          <a:p>
            <a:pPr marL="0" indent="0">
              <a:buNone/>
            </a:pPr>
            <a:r>
              <a:rPr lang="de-DE" dirty="0">
                <a:solidFill>
                  <a:srgbClr val="004941"/>
                </a:solidFill>
              </a:rPr>
              <a:t>als die zentrale digitale Plattform für Kommunikation, Organisation und Dokumentation innerhalb des FRÖBEL-Trägers. </a:t>
            </a:r>
          </a:p>
          <a:p>
            <a:pPr marL="0" indent="0">
              <a:buNone/>
            </a:pPr>
            <a:r>
              <a:rPr lang="de-DE" dirty="0">
                <a:solidFill>
                  <a:srgbClr val="004941"/>
                </a:solidFill>
              </a:rPr>
              <a:t>Die Anwendung gehört vollständig dem Träger und wird im eigenen Corporate Design betrieben. </a:t>
            </a:r>
          </a:p>
          <a:p>
            <a:pPr marL="0" indent="0">
              <a:buNone/>
            </a:pPr>
            <a:r>
              <a:rPr lang="de-DE" dirty="0">
                <a:solidFill>
                  <a:srgbClr val="004941"/>
                </a:solidFill>
              </a:rPr>
              <a:t>Wir gemeinsam mit </a:t>
            </a:r>
            <a:r>
              <a:rPr lang="de-DE" dirty="0" err="1">
                <a:solidFill>
                  <a:srgbClr val="004941"/>
                </a:solidFill>
              </a:rPr>
              <a:t>Erzieher:innen</a:t>
            </a:r>
            <a:r>
              <a:rPr lang="de-DE" dirty="0">
                <a:solidFill>
                  <a:srgbClr val="004941"/>
                </a:solidFill>
              </a:rPr>
              <a:t> und Eltern entwickelt (UX/UI)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A984E89-BAB4-5CDC-BEF4-B625CF10B5F1}"/>
              </a:ext>
            </a:extLst>
          </p:cNvPr>
          <p:cNvSpPr/>
          <p:nvPr/>
        </p:nvSpPr>
        <p:spPr>
          <a:xfrm>
            <a:off x="-64008" y="5413248"/>
            <a:ext cx="12344400" cy="1444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Grafik 15" descr="Ein Bild, das Schrift, Grafiken, Logo, Grafikdesign enthält.&#10;&#10;KI-generierte Inhalte können fehlerhaft sein.">
            <a:extLst>
              <a:ext uri="{FF2B5EF4-FFF2-40B4-BE49-F238E27FC236}">
                <a16:creationId xmlns:a16="http://schemas.microsoft.com/office/drawing/2014/main" id="{FD68A963-7696-A645-E223-C0EFFD3BB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4" y="5419810"/>
            <a:ext cx="3366810" cy="1488376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03C9EAEA-5D4E-4AC5-CF22-456425CAAF9A}"/>
              </a:ext>
            </a:extLst>
          </p:cNvPr>
          <p:cNvSpPr txBox="1"/>
          <p:nvPr/>
        </p:nvSpPr>
        <p:spPr>
          <a:xfrm>
            <a:off x="10128802" y="6066727"/>
            <a:ext cx="2035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rgbClr val="004941"/>
                </a:solidFill>
              </a:rPr>
              <a:t>.connect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B0625B74-5188-93EE-F27C-04F913937080}"/>
              </a:ext>
            </a:extLst>
          </p:cNvPr>
          <p:cNvSpPr txBox="1"/>
          <p:nvPr/>
        </p:nvSpPr>
        <p:spPr>
          <a:xfrm>
            <a:off x="594360" y="457200"/>
            <a:ext cx="5303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004941"/>
                </a:solidFill>
              </a:rPr>
              <a:t>VISION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01252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D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ntertitel 2">
            <a:extLst>
              <a:ext uri="{FF2B5EF4-FFF2-40B4-BE49-F238E27FC236}">
                <a16:creationId xmlns:a16="http://schemas.microsoft.com/office/drawing/2014/main" id="{AFDE7062-C67C-EFCC-0830-56EF6920D902}"/>
              </a:ext>
            </a:extLst>
          </p:cNvPr>
          <p:cNvSpPr txBox="1">
            <a:spLocks/>
          </p:cNvSpPr>
          <p:nvPr/>
        </p:nvSpPr>
        <p:spPr>
          <a:xfrm>
            <a:off x="594360" y="785686"/>
            <a:ext cx="9144000" cy="4847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  <a:p>
            <a:pPr marL="0" indent="0">
              <a:buNone/>
            </a:pPr>
            <a:r>
              <a:rPr lang="de-DE" dirty="0">
                <a:solidFill>
                  <a:srgbClr val="004941"/>
                </a:solidFill>
              </a:rPr>
              <a:t>Ziel ist eine barrierefreie, sichere und mehrsprachige Lösung, die Eltern, Fachkräfte und Träger digital verbindet.</a:t>
            </a:r>
          </a:p>
          <a:p>
            <a:pPr marL="0" indent="0">
              <a:buNone/>
            </a:pPr>
            <a:endParaRPr lang="de-DE" sz="1200" dirty="0">
              <a:solidFill>
                <a:srgbClr val="00494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Einfache und intuitive Bedienung für alle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Kompatibilität mit gängigen Vorlese-Programmen (Menschen mit Sichteinschränkung, </a:t>
            </a:r>
            <a:r>
              <a:rPr lang="de-DE" dirty="0" err="1">
                <a:solidFill>
                  <a:srgbClr val="004941"/>
                </a:solidFill>
              </a:rPr>
              <a:t>Analphabete</a:t>
            </a:r>
            <a:r>
              <a:rPr lang="de-DE" dirty="0">
                <a:solidFill>
                  <a:srgbClr val="004941"/>
                </a:solidFill>
              </a:rPr>
              <a:t> </a:t>
            </a:r>
            <a:r>
              <a:rPr lang="de-DE" dirty="0" err="1">
                <a:solidFill>
                  <a:srgbClr val="004941"/>
                </a:solidFill>
              </a:rPr>
              <a:t>uvm</a:t>
            </a:r>
            <a:r>
              <a:rPr lang="de-DE" dirty="0">
                <a:solidFill>
                  <a:srgbClr val="004941"/>
                </a:solidFill>
              </a:rPr>
              <a:t>.)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Anpassbarkeit von Schriftgröße sowie Auswahl von leichter Sprache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Im Fröbel-Kita-Alltag getestet und entwickelt.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923323A-83AE-9AEF-D608-C78B26B6DF82}"/>
              </a:ext>
            </a:extLst>
          </p:cNvPr>
          <p:cNvSpPr/>
          <p:nvPr/>
        </p:nvSpPr>
        <p:spPr>
          <a:xfrm>
            <a:off x="-64008" y="5413248"/>
            <a:ext cx="12344400" cy="1444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 descr="Ein Bild, das Schrift, Grafiken, Logo, Grafikdesign enthält.&#10;&#10;KI-generierte Inhalte können fehlerhaft sein.">
            <a:extLst>
              <a:ext uri="{FF2B5EF4-FFF2-40B4-BE49-F238E27FC236}">
                <a16:creationId xmlns:a16="http://schemas.microsoft.com/office/drawing/2014/main" id="{511D772C-9F8E-055F-3A09-1B4BFDDED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4" y="5419810"/>
            <a:ext cx="3366810" cy="1488376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ADF01F57-D0A8-0106-E49C-8F2DD7CFBB5E}"/>
              </a:ext>
            </a:extLst>
          </p:cNvPr>
          <p:cNvSpPr txBox="1"/>
          <p:nvPr/>
        </p:nvSpPr>
        <p:spPr>
          <a:xfrm>
            <a:off x="10128802" y="6066727"/>
            <a:ext cx="2035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rgbClr val="004941"/>
                </a:solidFill>
              </a:rPr>
              <a:t>.connect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5B2FFC9-FF3F-7C9F-87CB-6F2E3B998A2D}"/>
              </a:ext>
            </a:extLst>
          </p:cNvPr>
          <p:cNvSpPr txBox="1"/>
          <p:nvPr/>
        </p:nvSpPr>
        <p:spPr>
          <a:xfrm>
            <a:off x="594360" y="457200"/>
            <a:ext cx="5303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004941"/>
                </a:solidFill>
              </a:rPr>
              <a:t>ZIELSETZUNG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7937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AA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4A0468-AF0A-6FF9-26D1-A425150A9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ntertitel 2">
            <a:extLst>
              <a:ext uri="{FF2B5EF4-FFF2-40B4-BE49-F238E27FC236}">
                <a16:creationId xmlns:a16="http://schemas.microsoft.com/office/drawing/2014/main" id="{6C3C8C76-76E3-FD12-7147-81588D5E1D5D}"/>
              </a:ext>
            </a:extLst>
          </p:cNvPr>
          <p:cNvSpPr txBox="1">
            <a:spLocks/>
          </p:cNvSpPr>
          <p:nvPr/>
        </p:nvSpPr>
        <p:spPr>
          <a:xfrm>
            <a:off x="594360" y="828824"/>
            <a:ext cx="10292508" cy="46092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 Entwicklung im Auftrag von FRÖBEL Kita Langebusch, Münster im Rahmen von Ehrenamtsstunden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Produkt wird in Kita getestet und weiterentwickelt (Zeitraum etwa 1 Jahr)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 Fertiges Produkt wird gegen Aufwandsentschädigung vom Träger übernommen, Quellcode liegt beim Träger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 Hosting in ISO-27001-zertifiziertem Rechenzentrum in Deutschland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 Keine Abhängigkeit von Drittanbietern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 Zentrale Steuerung durch den Träger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C31B33C-E6BC-57F2-42B6-E65CAD9F8C95}"/>
              </a:ext>
            </a:extLst>
          </p:cNvPr>
          <p:cNvSpPr/>
          <p:nvPr/>
        </p:nvSpPr>
        <p:spPr>
          <a:xfrm>
            <a:off x="-64008" y="5413248"/>
            <a:ext cx="12344400" cy="1444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Grafik 15" descr="Ein Bild, das Schrift, Grafiken, Logo, Grafikdesign enthält.&#10;&#10;KI-generierte Inhalte können fehlerhaft sein.">
            <a:extLst>
              <a:ext uri="{FF2B5EF4-FFF2-40B4-BE49-F238E27FC236}">
                <a16:creationId xmlns:a16="http://schemas.microsoft.com/office/drawing/2014/main" id="{A1D2C09C-0CD5-9ADA-1E24-560ABC391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4" y="5419810"/>
            <a:ext cx="3366810" cy="1488376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76782119-5575-58BF-B7DC-AB26D2B260E0}"/>
              </a:ext>
            </a:extLst>
          </p:cNvPr>
          <p:cNvSpPr txBox="1"/>
          <p:nvPr/>
        </p:nvSpPr>
        <p:spPr>
          <a:xfrm>
            <a:off x="10128802" y="6066727"/>
            <a:ext cx="2035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rgbClr val="004941"/>
                </a:solidFill>
              </a:rPr>
              <a:t>.connect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67411A40-53EE-B48C-18C7-98ACCBA3EA3D}"/>
              </a:ext>
            </a:extLst>
          </p:cNvPr>
          <p:cNvSpPr txBox="1"/>
          <p:nvPr/>
        </p:nvSpPr>
        <p:spPr>
          <a:xfrm>
            <a:off x="594360" y="457200"/>
            <a:ext cx="5303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004941"/>
                </a:solidFill>
              </a:rPr>
              <a:t>ENTWICKLUNG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59657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D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974C23-4513-6FA4-5D6D-07C8F828A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ntertitel 2">
            <a:extLst>
              <a:ext uri="{FF2B5EF4-FFF2-40B4-BE49-F238E27FC236}">
                <a16:creationId xmlns:a16="http://schemas.microsoft.com/office/drawing/2014/main" id="{8112E461-615D-C3DC-1510-0D0A3AEA74D0}"/>
              </a:ext>
            </a:extLst>
          </p:cNvPr>
          <p:cNvSpPr txBox="1">
            <a:spLocks/>
          </p:cNvSpPr>
          <p:nvPr/>
        </p:nvSpPr>
        <p:spPr>
          <a:xfrm>
            <a:off x="594360" y="785686"/>
            <a:ext cx="9144000" cy="4847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Integration des FRÖBEL-CD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Bereitstellung der nötigen Materialien kostenfrei durch Träger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Nutzung der offiziellen Farbwelt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Typografie gemäß CD-Manual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Einheitliche Bildsprache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 Optional Individualisierung einzelner Einrichtungen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0D80A36-0ECB-2351-0902-FB66A4508F23}"/>
              </a:ext>
            </a:extLst>
          </p:cNvPr>
          <p:cNvSpPr/>
          <p:nvPr/>
        </p:nvSpPr>
        <p:spPr>
          <a:xfrm>
            <a:off x="-64008" y="5413248"/>
            <a:ext cx="12344400" cy="1444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 descr="Ein Bild, das Schrift, Grafiken, Logo, Grafikdesign enthält.&#10;&#10;KI-generierte Inhalte können fehlerhaft sein.">
            <a:extLst>
              <a:ext uri="{FF2B5EF4-FFF2-40B4-BE49-F238E27FC236}">
                <a16:creationId xmlns:a16="http://schemas.microsoft.com/office/drawing/2014/main" id="{36387DF4-F5EE-4CD9-1055-4EAB1793B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4" y="5419810"/>
            <a:ext cx="3366810" cy="1488376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DF0DEB5E-C967-C568-5605-816AAB81AEF5}"/>
              </a:ext>
            </a:extLst>
          </p:cNvPr>
          <p:cNvSpPr txBox="1"/>
          <p:nvPr/>
        </p:nvSpPr>
        <p:spPr>
          <a:xfrm>
            <a:off x="10128802" y="6066727"/>
            <a:ext cx="2035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rgbClr val="004941"/>
                </a:solidFill>
              </a:rPr>
              <a:t>.connect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4011E2D-F34B-D749-03ED-E8BA3C1C558B}"/>
              </a:ext>
            </a:extLst>
          </p:cNvPr>
          <p:cNvSpPr txBox="1"/>
          <p:nvPr/>
        </p:nvSpPr>
        <p:spPr>
          <a:xfrm>
            <a:off x="594360" y="457200"/>
            <a:ext cx="5303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004941"/>
                </a:solidFill>
              </a:rPr>
              <a:t>CORPORATE DESIGN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96047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AA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09D512-3C06-B528-6866-8E7DDE7ED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ntertitel 2">
            <a:extLst>
              <a:ext uri="{FF2B5EF4-FFF2-40B4-BE49-F238E27FC236}">
                <a16:creationId xmlns:a16="http://schemas.microsoft.com/office/drawing/2014/main" id="{8A0ABAF4-7CA0-8007-3CAB-A3A54F1BE436}"/>
              </a:ext>
            </a:extLst>
          </p:cNvPr>
          <p:cNvSpPr txBox="1">
            <a:spLocks/>
          </p:cNvSpPr>
          <p:nvPr/>
        </p:nvSpPr>
        <p:spPr>
          <a:xfrm>
            <a:off x="594360" y="828824"/>
            <a:ext cx="10292508" cy="4609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DSGVO-konform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Rollen- und Rechtekonzept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Zwei-Faktor-Authentifizierung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Verschlüsselte Datenübertragung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Automatische Löschfristen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Sichere interne Kommunikation (Wort &amp; Bild)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02A554C-83ED-F98F-BBA7-A68096B0164B}"/>
              </a:ext>
            </a:extLst>
          </p:cNvPr>
          <p:cNvSpPr/>
          <p:nvPr/>
        </p:nvSpPr>
        <p:spPr>
          <a:xfrm>
            <a:off x="-64008" y="5413248"/>
            <a:ext cx="12344400" cy="1444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Grafik 15" descr="Ein Bild, das Schrift, Grafiken, Logo, Grafikdesign enthält.&#10;&#10;KI-generierte Inhalte können fehlerhaft sein.">
            <a:extLst>
              <a:ext uri="{FF2B5EF4-FFF2-40B4-BE49-F238E27FC236}">
                <a16:creationId xmlns:a16="http://schemas.microsoft.com/office/drawing/2014/main" id="{C81476EE-4240-63D3-F131-0464CD4C4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4" y="5419810"/>
            <a:ext cx="3366810" cy="1488376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D28B0FDA-E102-D2C5-627A-460FDAB21A7D}"/>
              </a:ext>
            </a:extLst>
          </p:cNvPr>
          <p:cNvSpPr txBox="1"/>
          <p:nvPr/>
        </p:nvSpPr>
        <p:spPr>
          <a:xfrm>
            <a:off x="10128802" y="6066727"/>
            <a:ext cx="2035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rgbClr val="004941"/>
                </a:solidFill>
              </a:rPr>
              <a:t>.connect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524F8A34-420B-386D-4E1F-01B441D7D4A4}"/>
              </a:ext>
            </a:extLst>
          </p:cNvPr>
          <p:cNvSpPr txBox="1"/>
          <p:nvPr/>
        </p:nvSpPr>
        <p:spPr>
          <a:xfrm>
            <a:off x="594360" y="457200"/>
            <a:ext cx="5303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004941"/>
                </a:solidFill>
              </a:rPr>
              <a:t>DATENSCHUTZ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95041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D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15D4A4-76C8-5FDD-1504-E9E4E96F4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ntertitel 2">
            <a:extLst>
              <a:ext uri="{FF2B5EF4-FFF2-40B4-BE49-F238E27FC236}">
                <a16:creationId xmlns:a16="http://schemas.microsoft.com/office/drawing/2014/main" id="{EA65C2C4-9E16-61FB-9A5C-61BEC41B276E}"/>
              </a:ext>
            </a:extLst>
          </p:cNvPr>
          <p:cNvSpPr txBox="1">
            <a:spLocks/>
          </p:cNvSpPr>
          <p:nvPr/>
        </p:nvSpPr>
        <p:spPr>
          <a:xfrm>
            <a:off x="594360" y="785686"/>
            <a:ext cx="9144000" cy="4847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 Benutzeroberfläche in 20–30 Sprachen möglich, von jeder Einrichtung steuerbar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 Automatisierte Nachrichtenübersetzung (2 Wege)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 Transparente Kennzeichnung übersetzter Inhalte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31F0AF0-9A4E-DAF4-AB2E-E81385621E9C}"/>
              </a:ext>
            </a:extLst>
          </p:cNvPr>
          <p:cNvSpPr/>
          <p:nvPr/>
        </p:nvSpPr>
        <p:spPr>
          <a:xfrm>
            <a:off x="-64008" y="5413248"/>
            <a:ext cx="12344400" cy="1444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 descr="Ein Bild, das Schrift, Grafiken, Logo, Grafikdesign enthält.&#10;&#10;KI-generierte Inhalte können fehlerhaft sein.">
            <a:extLst>
              <a:ext uri="{FF2B5EF4-FFF2-40B4-BE49-F238E27FC236}">
                <a16:creationId xmlns:a16="http://schemas.microsoft.com/office/drawing/2014/main" id="{E0450B91-66F0-47FB-A178-3922FFB64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4" y="5419810"/>
            <a:ext cx="3366810" cy="1488376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F84A986C-AE8A-BA7E-3695-8E143769077C}"/>
              </a:ext>
            </a:extLst>
          </p:cNvPr>
          <p:cNvSpPr txBox="1"/>
          <p:nvPr/>
        </p:nvSpPr>
        <p:spPr>
          <a:xfrm>
            <a:off x="10128802" y="6066727"/>
            <a:ext cx="2035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rgbClr val="004941"/>
                </a:solidFill>
              </a:rPr>
              <a:t>.connect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0928DF0-DAE6-26ED-C2DB-7FDCF19EF5EB}"/>
              </a:ext>
            </a:extLst>
          </p:cNvPr>
          <p:cNvSpPr txBox="1"/>
          <p:nvPr/>
        </p:nvSpPr>
        <p:spPr>
          <a:xfrm>
            <a:off x="594360" y="457200"/>
            <a:ext cx="5303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004941"/>
                </a:solidFill>
              </a:rPr>
              <a:t>MEHRSPRACHIGKEIT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67224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AA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8EBFE2-7D76-E0B8-207F-986D217B2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881360C-F727-216A-8111-D01A68802146}"/>
              </a:ext>
            </a:extLst>
          </p:cNvPr>
          <p:cNvSpPr/>
          <p:nvPr/>
        </p:nvSpPr>
        <p:spPr>
          <a:xfrm rot="20098798">
            <a:off x="9126256" y="2798945"/>
            <a:ext cx="2934429" cy="2724912"/>
          </a:xfrm>
          <a:prstGeom prst="rect">
            <a:avLst/>
          </a:prstGeom>
          <a:solidFill>
            <a:srgbClr val="AAD000"/>
          </a:solidFill>
          <a:ln>
            <a:solidFill>
              <a:srgbClr val="34AA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07E8AA7C-519B-2704-1C46-DE779348BB5A}"/>
              </a:ext>
            </a:extLst>
          </p:cNvPr>
          <p:cNvSpPr txBox="1">
            <a:spLocks/>
          </p:cNvSpPr>
          <p:nvPr/>
        </p:nvSpPr>
        <p:spPr>
          <a:xfrm>
            <a:off x="594360" y="828824"/>
            <a:ext cx="10292508" cy="4609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 Skalierbare Schriftgröße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 Hoher Kontrastmodus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 Screenreader-Optimierung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 Einfache Sprache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 Symbolnavigation über verständliche Icons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 Audio-Vorlesefunktion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6C2E52B-1E69-525F-219F-8EBEE148719F}"/>
              </a:ext>
            </a:extLst>
          </p:cNvPr>
          <p:cNvSpPr/>
          <p:nvPr/>
        </p:nvSpPr>
        <p:spPr>
          <a:xfrm>
            <a:off x="-64008" y="5413248"/>
            <a:ext cx="12344400" cy="1444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Grafik 15" descr="Ein Bild, das Schrift, Grafiken, Logo, Grafikdesign enthält.&#10;&#10;KI-generierte Inhalte können fehlerhaft sein.">
            <a:extLst>
              <a:ext uri="{FF2B5EF4-FFF2-40B4-BE49-F238E27FC236}">
                <a16:creationId xmlns:a16="http://schemas.microsoft.com/office/drawing/2014/main" id="{EB92F2F2-192F-3161-CE71-718F745FC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4" y="5419810"/>
            <a:ext cx="3366810" cy="1488376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129F7F35-07CE-ECC0-58D9-BA0325D67FF0}"/>
              </a:ext>
            </a:extLst>
          </p:cNvPr>
          <p:cNvSpPr txBox="1"/>
          <p:nvPr/>
        </p:nvSpPr>
        <p:spPr>
          <a:xfrm>
            <a:off x="10128802" y="6066727"/>
            <a:ext cx="2035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rgbClr val="004941"/>
                </a:solidFill>
              </a:rPr>
              <a:t>.connect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A204F0F5-69FD-4641-7E7E-007797AA6B38}"/>
              </a:ext>
            </a:extLst>
          </p:cNvPr>
          <p:cNvSpPr txBox="1"/>
          <p:nvPr/>
        </p:nvSpPr>
        <p:spPr>
          <a:xfrm>
            <a:off x="594360" y="457200"/>
            <a:ext cx="82844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004941"/>
                </a:solidFill>
              </a:rPr>
              <a:t>BARRIEREFREIHEIT UND INKLUSION</a:t>
            </a:r>
          </a:p>
          <a:p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A153AF5-B8F2-35AC-9ADF-273659E3F15C}"/>
              </a:ext>
            </a:extLst>
          </p:cNvPr>
          <p:cNvSpPr txBox="1"/>
          <p:nvPr/>
        </p:nvSpPr>
        <p:spPr>
          <a:xfrm rot="20108728">
            <a:off x="8931524" y="2907612"/>
            <a:ext cx="33948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i="1" dirty="0">
                <a:solidFill>
                  <a:schemeClr val="bg1"/>
                </a:solidFill>
              </a:rPr>
              <a:t>… für </a:t>
            </a:r>
            <a:r>
              <a:rPr lang="de-DE" b="1" i="1" dirty="0" err="1">
                <a:solidFill>
                  <a:schemeClr val="bg1"/>
                </a:solidFill>
              </a:rPr>
              <a:t>Analphabet:innen</a:t>
            </a:r>
            <a:endParaRPr lang="de-DE" b="1" i="1" dirty="0">
              <a:solidFill>
                <a:schemeClr val="bg1"/>
              </a:solidFill>
            </a:endParaRP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de-DE" dirty="0">
                <a:solidFill>
                  <a:schemeClr val="bg1"/>
                </a:solidFill>
              </a:rPr>
              <a:t>Vollständige Vorlese-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de-DE" dirty="0" err="1">
                <a:solidFill>
                  <a:schemeClr val="bg1"/>
                </a:solidFill>
              </a:rPr>
              <a:t>funktion</a:t>
            </a:r>
            <a:endParaRPr lang="de-DE" dirty="0">
              <a:solidFill>
                <a:schemeClr val="bg1"/>
              </a:solidFill>
            </a:endParaRP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de-DE" dirty="0">
                <a:solidFill>
                  <a:schemeClr val="bg1"/>
                </a:solidFill>
              </a:rPr>
              <a:t> Audio-Navigation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de-DE" dirty="0">
                <a:solidFill>
                  <a:schemeClr val="bg1"/>
                </a:solidFill>
              </a:rPr>
              <a:t>Piktogramm-basierte Bedienung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de-DE" dirty="0">
                <a:solidFill>
                  <a:schemeClr val="bg1"/>
                </a:solidFill>
              </a:rPr>
              <a:t>Sprachnachricht statt Texteingabe</a:t>
            </a:r>
          </a:p>
        </p:txBody>
      </p:sp>
    </p:spTree>
    <p:extLst>
      <p:ext uri="{BB962C8B-B14F-4D97-AF65-F5344CB8AC3E}">
        <p14:creationId xmlns:p14="http://schemas.microsoft.com/office/powerpoint/2010/main" val="499181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D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166120-08C5-4107-20B1-2536ED295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ntertitel 2">
            <a:extLst>
              <a:ext uri="{FF2B5EF4-FFF2-40B4-BE49-F238E27FC236}">
                <a16:creationId xmlns:a16="http://schemas.microsoft.com/office/drawing/2014/main" id="{B9EEBBDD-F86A-96E8-35FF-04820F37B5F7}"/>
              </a:ext>
            </a:extLst>
          </p:cNvPr>
          <p:cNvSpPr txBox="1">
            <a:spLocks/>
          </p:cNvSpPr>
          <p:nvPr/>
        </p:nvSpPr>
        <p:spPr>
          <a:xfrm>
            <a:off x="594360" y="785686"/>
            <a:ext cx="4500666" cy="4847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  <a:p>
            <a:pPr marL="0" indent="0">
              <a:buNone/>
            </a:pPr>
            <a:r>
              <a:rPr lang="de-DE" b="1" dirty="0">
                <a:solidFill>
                  <a:srgbClr val="004941"/>
                </a:solidFill>
              </a:rPr>
              <a:t>Elternbereich: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 Nachrichten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 Abwesenheitsmeldung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 Termine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 Dokumente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 Portfolio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 Digitale Formulare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C5BC6B9-3C89-DF2D-D665-38D1CBF01561}"/>
              </a:ext>
            </a:extLst>
          </p:cNvPr>
          <p:cNvSpPr/>
          <p:nvPr/>
        </p:nvSpPr>
        <p:spPr>
          <a:xfrm>
            <a:off x="-64008" y="5413248"/>
            <a:ext cx="12344400" cy="1444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 descr="Ein Bild, das Schrift, Grafiken, Logo, Grafikdesign enthält.&#10;&#10;KI-generierte Inhalte können fehlerhaft sein.">
            <a:extLst>
              <a:ext uri="{FF2B5EF4-FFF2-40B4-BE49-F238E27FC236}">
                <a16:creationId xmlns:a16="http://schemas.microsoft.com/office/drawing/2014/main" id="{CBAEC538-4BA9-1254-9D9C-B5D248C06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4" y="5419810"/>
            <a:ext cx="3366810" cy="1488376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24ECC9D2-D334-E417-3895-BE253AD9F7D8}"/>
              </a:ext>
            </a:extLst>
          </p:cNvPr>
          <p:cNvSpPr txBox="1"/>
          <p:nvPr/>
        </p:nvSpPr>
        <p:spPr>
          <a:xfrm>
            <a:off x="10128802" y="6066727"/>
            <a:ext cx="2035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rgbClr val="004941"/>
                </a:solidFill>
              </a:rPr>
              <a:t>.connect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6C3AAB7-576C-F8A4-E4C0-BE432E9EEEFE}"/>
              </a:ext>
            </a:extLst>
          </p:cNvPr>
          <p:cNvSpPr txBox="1"/>
          <p:nvPr/>
        </p:nvSpPr>
        <p:spPr>
          <a:xfrm>
            <a:off x="594360" y="457200"/>
            <a:ext cx="5303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004941"/>
                </a:solidFill>
              </a:rPr>
              <a:t>KERNFUNKTIONEN</a:t>
            </a:r>
          </a:p>
          <a:p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C2C7945-4388-78E8-6EC4-BAEF80200C9C}"/>
              </a:ext>
            </a:extLst>
          </p:cNvPr>
          <p:cNvSpPr txBox="1"/>
          <p:nvPr/>
        </p:nvSpPr>
        <p:spPr>
          <a:xfrm>
            <a:off x="6096000" y="1224036"/>
            <a:ext cx="450066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b="1" dirty="0">
                <a:solidFill>
                  <a:srgbClr val="004941"/>
                </a:solidFill>
              </a:rPr>
              <a:t>Team-Bereich: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2800" dirty="0">
                <a:solidFill>
                  <a:srgbClr val="004941"/>
                </a:solidFill>
              </a:rPr>
              <a:t>• Interne Kommunikation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2800" dirty="0">
                <a:solidFill>
                  <a:srgbClr val="004941"/>
                </a:solidFill>
              </a:rPr>
              <a:t>• Dokumentation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2800" dirty="0">
                <a:solidFill>
                  <a:srgbClr val="004941"/>
                </a:solidFill>
              </a:rPr>
              <a:t>• Dienstpläne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2800" dirty="0">
                <a:solidFill>
                  <a:srgbClr val="004941"/>
                </a:solidFill>
              </a:rPr>
              <a:t>• Notfallkontakte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2800" dirty="0">
                <a:solidFill>
                  <a:srgbClr val="004941"/>
                </a:solidFill>
              </a:rPr>
              <a:t>Träger-Dashboard: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2800" dirty="0">
                <a:solidFill>
                  <a:srgbClr val="004941"/>
                </a:solidFill>
              </a:rPr>
              <a:t>• Zentrale Auswertungen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2800" dirty="0">
                <a:solidFill>
                  <a:srgbClr val="004941"/>
                </a:solidFill>
              </a:rPr>
              <a:t>• Modulverwaltung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2800" dirty="0">
                <a:solidFill>
                  <a:srgbClr val="004941"/>
                </a:solidFill>
              </a:rPr>
              <a:t>• Rundmails</a:t>
            </a:r>
          </a:p>
        </p:txBody>
      </p:sp>
    </p:spTree>
    <p:extLst>
      <p:ext uri="{BB962C8B-B14F-4D97-AF65-F5344CB8AC3E}">
        <p14:creationId xmlns:p14="http://schemas.microsoft.com/office/powerpoint/2010/main" val="3136634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AA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A117F7-33B9-DDB3-9F0D-3B65644C3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ntertitel 2">
            <a:extLst>
              <a:ext uri="{FF2B5EF4-FFF2-40B4-BE49-F238E27FC236}">
                <a16:creationId xmlns:a16="http://schemas.microsoft.com/office/drawing/2014/main" id="{427AC737-3B25-C78A-7A7D-9682F3004F46}"/>
              </a:ext>
            </a:extLst>
          </p:cNvPr>
          <p:cNvSpPr txBox="1">
            <a:spLocks/>
          </p:cNvSpPr>
          <p:nvPr/>
        </p:nvSpPr>
        <p:spPr>
          <a:xfrm>
            <a:off x="594360" y="828824"/>
            <a:ext cx="10292508" cy="4609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DSGVO-konform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Rollen- und Rechtekonzept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Zwei-Faktor-Authentifizierung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Verschlüsselte Datenübertragung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Automatische Löschfristen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Sichere interne Kommunikation (Wort &amp; Bild)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F07FDE7-C159-AD10-C62E-1983D7369F86}"/>
              </a:ext>
            </a:extLst>
          </p:cNvPr>
          <p:cNvSpPr/>
          <p:nvPr/>
        </p:nvSpPr>
        <p:spPr>
          <a:xfrm>
            <a:off x="-64008" y="5413248"/>
            <a:ext cx="12344400" cy="1444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Grafik 15" descr="Ein Bild, das Schrift, Grafiken, Logo, Grafikdesign enthält.&#10;&#10;KI-generierte Inhalte können fehlerhaft sein.">
            <a:extLst>
              <a:ext uri="{FF2B5EF4-FFF2-40B4-BE49-F238E27FC236}">
                <a16:creationId xmlns:a16="http://schemas.microsoft.com/office/drawing/2014/main" id="{76AE17BE-F69F-E776-5D5E-269BDF4B1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4" y="5419810"/>
            <a:ext cx="3366810" cy="1488376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C5295564-07AE-61DC-8EF1-F151919167CC}"/>
              </a:ext>
            </a:extLst>
          </p:cNvPr>
          <p:cNvSpPr txBox="1"/>
          <p:nvPr/>
        </p:nvSpPr>
        <p:spPr>
          <a:xfrm>
            <a:off x="10128802" y="6066727"/>
            <a:ext cx="2035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rgbClr val="004941"/>
                </a:solidFill>
              </a:rPr>
              <a:t>.connect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A764DD74-4DAC-70FA-03C7-4F8273F012CD}"/>
              </a:ext>
            </a:extLst>
          </p:cNvPr>
          <p:cNvSpPr txBox="1"/>
          <p:nvPr/>
        </p:nvSpPr>
        <p:spPr>
          <a:xfrm>
            <a:off x="594360" y="457200"/>
            <a:ext cx="5303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004941"/>
                </a:solidFill>
              </a:rPr>
              <a:t>MOCKUP?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6012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D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673A46-DAF4-7BF6-B62A-98CC2B3E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ntertitel 2">
            <a:extLst>
              <a:ext uri="{FF2B5EF4-FFF2-40B4-BE49-F238E27FC236}">
                <a16:creationId xmlns:a16="http://schemas.microsoft.com/office/drawing/2014/main" id="{80715C8B-D939-B96C-9EA8-9114A0FF116A}"/>
              </a:ext>
            </a:extLst>
          </p:cNvPr>
          <p:cNvSpPr txBox="1">
            <a:spLocks/>
          </p:cNvSpPr>
          <p:nvPr/>
        </p:nvSpPr>
        <p:spPr>
          <a:xfrm>
            <a:off x="594360" y="785686"/>
            <a:ext cx="9144000" cy="4847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 Bild-Upload &amp; Download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• Video-Upload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• Portfolio-Funktion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• Downloadsteuerung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• Optionales Wasserzeichen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194B0B1-BD04-0693-DC99-833D25A5F2BE}"/>
              </a:ext>
            </a:extLst>
          </p:cNvPr>
          <p:cNvSpPr/>
          <p:nvPr/>
        </p:nvSpPr>
        <p:spPr>
          <a:xfrm>
            <a:off x="-64008" y="5413248"/>
            <a:ext cx="12344400" cy="1444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 descr="Ein Bild, das Schrift, Grafiken, Logo, Grafikdesign enthält.&#10;&#10;KI-generierte Inhalte können fehlerhaft sein.">
            <a:extLst>
              <a:ext uri="{FF2B5EF4-FFF2-40B4-BE49-F238E27FC236}">
                <a16:creationId xmlns:a16="http://schemas.microsoft.com/office/drawing/2014/main" id="{C876EBAB-4648-1661-04D9-023CBD9F6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4" y="5419810"/>
            <a:ext cx="3366810" cy="1488376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41D0674A-F2D2-8AAC-BF05-75C39796ACAC}"/>
              </a:ext>
            </a:extLst>
          </p:cNvPr>
          <p:cNvSpPr txBox="1"/>
          <p:nvPr/>
        </p:nvSpPr>
        <p:spPr>
          <a:xfrm>
            <a:off x="10128802" y="6066727"/>
            <a:ext cx="2035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rgbClr val="004941"/>
                </a:solidFill>
              </a:rPr>
              <a:t>.connect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3703848-B91B-2C97-D0F6-3822FA24960B}"/>
              </a:ext>
            </a:extLst>
          </p:cNvPr>
          <p:cNvSpPr txBox="1"/>
          <p:nvPr/>
        </p:nvSpPr>
        <p:spPr>
          <a:xfrm>
            <a:off x="594360" y="457200"/>
            <a:ext cx="5303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004941"/>
                </a:solidFill>
              </a:rPr>
              <a:t>MEDIENFUNTIONEN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80657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AA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B82F31-1CDB-36CD-5DE2-5FAC6EAD5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ntertitel 2">
            <a:extLst>
              <a:ext uri="{FF2B5EF4-FFF2-40B4-BE49-F238E27FC236}">
                <a16:creationId xmlns:a16="http://schemas.microsoft.com/office/drawing/2014/main" id="{1C7C8747-F41B-CAF7-1273-4ACE137108FA}"/>
              </a:ext>
            </a:extLst>
          </p:cNvPr>
          <p:cNvSpPr txBox="1">
            <a:spLocks/>
          </p:cNvSpPr>
          <p:nvPr/>
        </p:nvSpPr>
        <p:spPr>
          <a:xfrm>
            <a:off x="594360" y="828824"/>
            <a:ext cx="10292508" cy="4609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Mandantenfähig für alle Einrichtungen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Bundesweit einsetzbar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Rollenstruktur: Träger, Leitung, Fachkraft, Eltern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E44308E-ED0C-4CC1-2812-74FEB37D0C7D}"/>
              </a:ext>
            </a:extLst>
          </p:cNvPr>
          <p:cNvSpPr/>
          <p:nvPr/>
        </p:nvSpPr>
        <p:spPr>
          <a:xfrm>
            <a:off x="-64008" y="5413248"/>
            <a:ext cx="12344400" cy="1444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Grafik 15" descr="Ein Bild, das Schrift, Grafiken, Logo, Grafikdesign enthält.&#10;&#10;KI-generierte Inhalte können fehlerhaft sein.">
            <a:extLst>
              <a:ext uri="{FF2B5EF4-FFF2-40B4-BE49-F238E27FC236}">
                <a16:creationId xmlns:a16="http://schemas.microsoft.com/office/drawing/2014/main" id="{975A96B9-58F3-190B-6354-4C0AA0F0F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4" y="5419810"/>
            <a:ext cx="3366810" cy="1488376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1FB35F11-EE3F-6AB6-2687-5340637704C6}"/>
              </a:ext>
            </a:extLst>
          </p:cNvPr>
          <p:cNvSpPr txBox="1"/>
          <p:nvPr/>
        </p:nvSpPr>
        <p:spPr>
          <a:xfrm>
            <a:off x="10128802" y="6066727"/>
            <a:ext cx="2035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rgbClr val="004941"/>
                </a:solidFill>
              </a:rPr>
              <a:t>.connect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0462774A-987F-FA22-6B2C-0E142EC80EB0}"/>
              </a:ext>
            </a:extLst>
          </p:cNvPr>
          <p:cNvSpPr txBox="1"/>
          <p:nvPr/>
        </p:nvSpPr>
        <p:spPr>
          <a:xfrm>
            <a:off x="594360" y="457200"/>
            <a:ext cx="5303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004941"/>
                </a:solidFill>
              </a:rPr>
              <a:t>SKALIERBARKEIT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8533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D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995B4-E181-FB6A-98E9-E698DA72A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ntertitel 2">
            <a:extLst>
              <a:ext uri="{FF2B5EF4-FFF2-40B4-BE49-F238E27FC236}">
                <a16:creationId xmlns:a16="http://schemas.microsoft.com/office/drawing/2014/main" id="{9AD73720-680E-1147-37CB-261B1219D825}"/>
              </a:ext>
            </a:extLst>
          </p:cNvPr>
          <p:cNvSpPr txBox="1">
            <a:spLocks/>
          </p:cNvSpPr>
          <p:nvPr/>
        </p:nvSpPr>
        <p:spPr>
          <a:xfrm>
            <a:off x="594360" y="785686"/>
            <a:ext cx="9144000" cy="4847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 Digitale Souveränität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 Einheitliches Auftreten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Höchste Datenschutzstandards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Inklusive Lösung für alle Familien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Zukunftsfähige Plattformarchitektur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5A19B90-980C-BA0F-F496-9CDA88B7AE5B}"/>
              </a:ext>
            </a:extLst>
          </p:cNvPr>
          <p:cNvSpPr/>
          <p:nvPr/>
        </p:nvSpPr>
        <p:spPr>
          <a:xfrm>
            <a:off x="-64008" y="5413248"/>
            <a:ext cx="12344400" cy="1444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 descr="Ein Bild, das Schrift, Grafiken, Logo, Grafikdesign enthält.&#10;&#10;KI-generierte Inhalte können fehlerhaft sein.">
            <a:extLst>
              <a:ext uri="{FF2B5EF4-FFF2-40B4-BE49-F238E27FC236}">
                <a16:creationId xmlns:a16="http://schemas.microsoft.com/office/drawing/2014/main" id="{54645E06-0898-BB63-ABBB-1C8E62A64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4" y="5419810"/>
            <a:ext cx="3366810" cy="1488376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7CA5C12B-7F50-E162-136A-9B8F9A34BA61}"/>
              </a:ext>
            </a:extLst>
          </p:cNvPr>
          <p:cNvSpPr txBox="1"/>
          <p:nvPr/>
        </p:nvSpPr>
        <p:spPr>
          <a:xfrm>
            <a:off x="10128802" y="6066727"/>
            <a:ext cx="2035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rgbClr val="004941"/>
                </a:solidFill>
              </a:rPr>
              <a:t>.connect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DD0ABFE-D2AA-7B51-6E0D-DFFC39E69549}"/>
              </a:ext>
            </a:extLst>
          </p:cNvPr>
          <p:cNvSpPr txBox="1"/>
          <p:nvPr/>
        </p:nvSpPr>
        <p:spPr>
          <a:xfrm>
            <a:off x="594360" y="457200"/>
            <a:ext cx="5303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004941"/>
                </a:solidFill>
              </a:rPr>
              <a:t>MEHRWERT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74676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AA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121745-824F-1CF9-4107-4FDE2560F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ntertitel 2">
            <a:extLst>
              <a:ext uri="{FF2B5EF4-FFF2-40B4-BE49-F238E27FC236}">
                <a16:creationId xmlns:a16="http://schemas.microsoft.com/office/drawing/2014/main" id="{288F10A9-AC25-E72D-8AE2-599DD18A32C9}"/>
              </a:ext>
            </a:extLst>
          </p:cNvPr>
          <p:cNvSpPr txBox="1">
            <a:spLocks/>
          </p:cNvSpPr>
          <p:nvPr/>
        </p:nvSpPr>
        <p:spPr>
          <a:xfrm>
            <a:off x="594360" y="828824"/>
            <a:ext cx="10292508" cy="4609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 Entwicklungskosten: 300.000 – 800.000 € (Spende, entfällt)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 Jährliche Wartung &amp; Hosting: 100.000 – 250.000 € (Schätzwert)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 Langfristige Unabhängigkeit von externen Lizenzmodellen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B42B046-3D57-DF04-053B-DADD8DF2DCA1}"/>
              </a:ext>
            </a:extLst>
          </p:cNvPr>
          <p:cNvSpPr/>
          <p:nvPr/>
        </p:nvSpPr>
        <p:spPr>
          <a:xfrm>
            <a:off x="-64008" y="5413248"/>
            <a:ext cx="12344400" cy="1444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Grafik 15" descr="Ein Bild, das Schrift, Grafiken, Logo, Grafikdesign enthält.&#10;&#10;KI-generierte Inhalte können fehlerhaft sein.">
            <a:extLst>
              <a:ext uri="{FF2B5EF4-FFF2-40B4-BE49-F238E27FC236}">
                <a16:creationId xmlns:a16="http://schemas.microsoft.com/office/drawing/2014/main" id="{3D17818A-7FE3-327A-8488-F41D348B0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4" y="5419810"/>
            <a:ext cx="3366810" cy="1488376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7D247D3D-6DF9-AC84-A9EA-B14FE30CCF73}"/>
              </a:ext>
            </a:extLst>
          </p:cNvPr>
          <p:cNvSpPr txBox="1"/>
          <p:nvPr/>
        </p:nvSpPr>
        <p:spPr>
          <a:xfrm>
            <a:off x="10128802" y="6066727"/>
            <a:ext cx="2035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rgbClr val="004941"/>
                </a:solidFill>
              </a:rPr>
              <a:t>.connect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A2911E62-1187-7E0E-6704-6562898EC034}"/>
              </a:ext>
            </a:extLst>
          </p:cNvPr>
          <p:cNvSpPr txBox="1"/>
          <p:nvPr/>
        </p:nvSpPr>
        <p:spPr>
          <a:xfrm>
            <a:off x="594360" y="457200"/>
            <a:ext cx="5303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004941"/>
                </a:solidFill>
              </a:rPr>
              <a:t>KOSTEN/FINANZPLAN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25006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D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2B6F89-0009-2924-F1F7-E445DBF59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ntertitel 2">
            <a:extLst>
              <a:ext uri="{FF2B5EF4-FFF2-40B4-BE49-F238E27FC236}">
                <a16:creationId xmlns:a16="http://schemas.microsoft.com/office/drawing/2014/main" id="{E261BF33-A76A-2D54-58E8-18588ACA707D}"/>
              </a:ext>
            </a:extLst>
          </p:cNvPr>
          <p:cNvSpPr txBox="1">
            <a:spLocks/>
          </p:cNvSpPr>
          <p:nvPr/>
        </p:nvSpPr>
        <p:spPr>
          <a:xfrm>
            <a:off x="594360" y="785686"/>
            <a:ext cx="9144000" cy="4847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rgbClr val="004941"/>
                </a:solidFill>
              </a:rPr>
              <a:t> …TBD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82F54E5-E6D2-1AE0-8B6F-28BDFC5CF4C5}"/>
              </a:ext>
            </a:extLst>
          </p:cNvPr>
          <p:cNvSpPr/>
          <p:nvPr/>
        </p:nvSpPr>
        <p:spPr>
          <a:xfrm>
            <a:off x="-64008" y="5413248"/>
            <a:ext cx="12344400" cy="1444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 descr="Ein Bild, das Schrift, Grafiken, Logo, Grafikdesign enthält.&#10;&#10;KI-generierte Inhalte können fehlerhaft sein.">
            <a:extLst>
              <a:ext uri="{FF2B5EF4-FFF2-40B4-BE49-F238E27FC236}">
                <a16:creationId xmlns:a16="http://schemas.microsoft.com/office/drawing/2014/main" id="{A81E9258-06C0-1BA6-63A5-447CC6224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4" y="5419810"/>
            <a:ext cx="3366810" cy="1488376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98ADECF8-B350-4C78-8CED-8F1938D8AFC9}"/>
              </a:ext>
            </a:extLst>
          </p:cNvPr>
          <p:cNvSpPr txBox="1"/>
          <p:nvPr/>
        </p:nvSpPr>
        <p:spPr>
          <a:xfrm>
            <a:off x="10128802" y="6066727"/>
            <a:ext cx="2035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rgbClr val="004941"/>
                </a:solidFill>
              </a:rPr>
              <a:t>.connect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77B359C-6B43-3211-9174-9E695083440C}"/>
              </a:ext>
            </a:extLst>
          </p:cNvPr>
          <p:cNvSpPr txBox="1"/>
          <p:nvPr/>
        </p:nvSpPr>
        <p:spPr>
          <a:xfrm>
            <a:off x="594360" y="457200"/>
            <a:ext cx="5303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004941"/>
                </a:solidFill>
              </a:rPr>
              <a:t>ZEITPLAN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72337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AA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BF2740-9A24-8362-069B-2BE4FD473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ntertitel 2">
            <a:extLst>
              <a:ext uri="{FF2B5EF4-FFF2-40B4-BE49-F238E27FC236}">
                <a16:creationId xmlns:a16="http://schemas.microsoft.com/office/drawing/2014/main" id="{111680D7-4838-BB5F-2232-A528C5B7361E}"/>
              </a:ext>
            </a:extLst>
          </p:cNvPr>
          <p:cNvSpPr txBox="1">
            <a:spLocks/>
          </p:cNvSpPr>
          <p:nvPr/>
        </p:nvSpPr>
        <p:spPr>
          <a:xfrm>
            <a:off x="1227114" y="1124014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  <a:p>
            <a:r>
              <a:rPr lang="de-DE" dirty="0">
                <a:solidFill>
                  <a:srgbClr val="004941"/>
                </a:solidFill>
              </a:rPr>
              <a:t>KI-Chatbot für Eltern zu wichtigsten Fragen zu Fröbel/der Einrichtung (reduziert klingende </a:t>
            </a:r>
            <a:r>
              <a:rPr lang="de-DE" dirty="0" err="1">
                <a:solidFill>
                  <a:srgbClr val="004941"/>
                </a:solidFill>
              </a:rPr>
              <a:t>Telfone</a:t>
            </a:r>
            <a:r>
              <a:rPr lang="de-DE" dirty="0">
                <a:solidFill>
                  <a:srgbClr val="004941"/>
                </a:solidFill>
              </a:rPr>
              <a:t> im Kita-Alltag)</a:t>
            </a:r>
          </a:p>
          <a:p>
            <a:r>
              <a:rPr lang="de-DE" dirty="0">
                <a:solidFill>
                  <a:srgbClr val="004941"/>
                </a:solidFill>
              </a:rPr>
              <a:t>Schnittstellen zu </a:t>
            </a:r>
            <a:r>
              <a:rPr lang="de-DE" dirty="0" err="1">
                <a:solidFill>
                  <a:srgbClr val="004941"/>
                </a:solidFill>
              </a:rPr>
              <a:t>behörden</a:t>
            </a:r>
            <a:r>
              <a:rPr lang="de-DE" dirty="0">
                <a:solidFill>
                  <a:srgbClr val="004941"/>
                </a:solidFill>
              </a:rPr>
              <a:t>?</a:t>
            </a:r>
          </a:p>
          <a:p>
            <a:r>
              <a:rPr lang="de-DE" dirty="0" err="1">
                <a:solidFill>
                  <a:srgbClr val="004941"/>
                </a:solidFill>
              </a:rPr>
              <a:t>Barrierrefrei</a:t>
            </a:r>
            <a:r>
              <a:rPr lang="de-DE" dirty="0">
                <a:solidFill>
                  <a:srgbClr val="004941"/>
                </a:solidFill>
              </a:rPr>
              <a:t>-Zertifikat</a:t>
            </a:r>
          </a:p>
          <a:p>
            <a:endParaRPr lang="de-DE" dirty="0">
              <a:solidFill>
                <a:srgbClr val="00494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7F950F2-0AF9-8D5E-2F64-7DCFC0808E86}"/>
              </a:ext>
            </a:extLst>
          </p:cNvPr>
          <p:cNvSpPr/>
          <p:nvPr/>
        </p:nvSpPr>
        <p:spPr>
          <a:xfrm>
            <a:off x="-64008" y="5413248"/>
            <a:ext cx="12344400" cy="1444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Grafik 15" descr="Ein Bild, das Schrift, Grafiken, Logo, Grafikdesign enthält.&#10;&#10;KI-generierte Inhalte können fehlerhaft sein.">
            <a:extLst>
              <a:ext uri="{FF2B5EF4-FFF2-40B4-BE49-F238E27FC236}">
                <a16:creationId xmlns:a16="http://schemas.microsoft.com/office/drawing/2014/main" id="{52E45F97-F849-A2EC-02F6-25D892F61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4" y="5419810"/>
            <a:ext cx="3366810" cy="1488376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967195BD-EB2E-9C55-EA83-29289474F902}"/>
              </a:ext>
            </a:extLst>
          </p:cNvPr>
          <p:cNvSpPr txBox="1"/>
          <p:nvPr/>
        </p:nvSpPr>
        <p:spPr>
          <a:xfrm>
            <a:off x="10128802" y="6066727"/>
            <a:ext cx="2035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rgbClr val="004941"/>
                </a:solidFill>
              </a:rPr>
              <a:t>.connect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2B27562F-552D-3614-CC63-57F4DDE69493}"/>
              </a:ext>
            </a:extLst>
          </p:cNvPr>
          <p:cNvSpPr txBox="1"/>
          <p:nvPr/>
        </p:nvSpPr>
        <p:spPr>
          <a:xfrm>
            <a:off x="594360" y="457200"/>
            <a:ext cx="5303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>
                <a:solidFill>
                  <a:srgbClr val="004941"/>
                </a:solidFill>
              </a:rPr>
              <a:t>ADD ONS</a:t>
            </a:r>
            <a:endParaRPr lang="de-DE" sz="3600" b="1" dirty="0">
              <a:solidFill>
                <a:srgbClr val="004941"/>
              </a:solidFill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79561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555</Words>
  <Application>Microsoft Office PowerPoint</Application>
  <PresentationFormat>Breitbild</PresentationFormat>
  <Paragraphs>148</Paragraphs>
  <Slides>17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Wingdings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Konken, Christine</dc:creator>
  <cp:lastModifiedBy>Konken, Christine</cp:lastModifiedBy>
  <cp:revision>2</cp:revision>
  <dcterms:created xsi:type="dcterms:W3CDTF">2026-02-12T10:02:31Z</dcterms:created>
  <dcterms:modified xsi:type="dcterms:W3CDTF">2026-02-12T12:19:56Z</dcterms:modified>
</cp:coreProperties>
</file>